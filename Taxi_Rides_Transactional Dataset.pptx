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9" r:id="rId3"/>
    <p:sldId id="257" r:id="rId4"/>
    <p:sldId id="262" r:id="rId5"/>
    <p:sldId id="265" r:id="rId6"/>
    <p:sldId id="266" r:id="rId7"/>
    <p:sldId id="267" r:id="rId8"/>
    <p:sldId id="268" r:id="rId9"/>
    <p:sldId id="269" r:id="rId10"/>
    <p:sldId id="271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EDCF819-4BF8-4328-9048-15C61FF69BE6}">
          <p14:sldIdLst>
            <p14:sldId id="256"/>
            <p14:sldId id="259"/>
            <p14:sldId id="257"/>
            <p14:sldId id="262"/>
            <p14:sldId id="265"/>
            <p14:sldId id="266"/>
            <p14:sldId id="267"/>
            <p14:sldId id="268"/>
            <p14:sldId id="269"/>
            <p14:sldId id="271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5D6A0C9-3162-4EC3-B29A-CC4A7319AD1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2577E83F-7A94-41B6-9389-E83920B3F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65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A0C9-3162-4EC3-B29A-CC4A7319AD1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E83F-7A94-41B6-9389-E83920B3F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18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A0C9-3162-4EC3-B29A-CC4A7319AD1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E83F-7A94-41B6-9389-E83920B3F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991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A0C9-3162-4EC3-B29A-CC4A7319AD1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E83F-7A94-41B6-9389-E83920B3F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344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A0C9-3162-4EC3-B29A-CC4A7319AD1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E83F-7A94-41B6-9389-E83920B3F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796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A0C9-3162-4EC3-B29A-CC4A7319AD1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E83F-7A94-41B6-9389-E83920B3F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50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A0C9-3162-4EC3-B29A-CC4A7319AD1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E83F-7A94-41B6-9389-E83920B3F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400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A0C9-3162-4EC3-B29A-CC4A7319AD1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E83F-7A94-41B6-9389-E83920B3F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20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A0C9-3162-4EC3-B29A-CC4A7319AD1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E83F-7A94-41B6-9389-E83920B3F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451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A0C9-3162-4EC3-B29A-CC4A7319AD1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E83F-7A94-41B6-9389-E83920B3F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841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A0C9-3162-4EC3-B29A-CC4A7319AD1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E83F-7A94-41B6-9389-E83920B3F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008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A0C9-3162-4EC3-B29A-CC4A7319AD1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E83F-7A94-41B6-9389-E83920B3F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121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A0C9-3162-4EC3-B29A-CC4A7319AD1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E83F-7A94-41B6-9389-E83920B3F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00269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A0C9-3162-4EC3-B29A-CC4A7319AD1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E83F-7A94-41B6-9389-E83920B3F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809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A0C9-3162-4EC3-B29A-CC4A7319AD1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E83F-7A94-41B6-9389-E83920B3F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1754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5D6A0C9-3162-4EC3-B29A-CC4A7319AD1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E83F-7A94-41B6-9389-E83920B3F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8353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5D6A0C9-3162-4EC3-B29A-CC4A7319AD1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E83F-7A94-41B6-9389-E83920B3F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540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5D6A0C9-3162-4EC3-B29A-CC4A7319AD1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2577E83F-7A94-41B6-9389-E83920B3F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601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5A410-5A17-486E-FCF6-C18D6B51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32" y="629266"/>
            <a:ext cx="7423355" cy="1838632"/>
          </a:xfrm>
        </p:spPr>
        <p:txBody>
          <a:bodyPr/>
          <a:lstStyle/>
          <a:p>
            <a:r>
              <a:rPr lang="en-IN" dirty="0"/>
              <a:t>Taxi Rides Transactional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611921-5902-2BE4-0C22-71F78A7A34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i="1" dirty="0">
                <a:solidFill>
                  <a:schemeClr val="bg2"/>
                </a:solidFill>
              </a:rPr>
              <a:t>Prepared By : Aakanksha Pednekar</a:t>
            </a:r>
          </a:p>
          <a:p>
            <a:r>
              <a:rPr lang="en-IN" b="1" i="1" dirty="0">
                <a:solidFill>
                  <a:schemeClr val="bg2"/>
                </a:solidFill>
              </a:rPr>
              <a:t>Date : 30-01-2026 to 05-02-2026</a:t>
            </a:r>
          </a:p>
        </p:txBody>
      </p:sp>
    </p:spTree>
    <p:extLst>
      <p:ext uri="{BB962C8B-B14F-4D97-AF65-F5344CB8AC3E}">
        <p14:creationId xmlns:p14="http://schemas.microsoft.com/office/powerpoint/2010/main" val="112531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51373-8D1C-EE82-387D-235CBD80A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9B7DD-D50F-4C1E-57DB-FF7BCC385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To Analyze large ‑ scale Taxi Ride Transactional Data.</a:t>
            </a:r>
          </a:p>
          <a:p>
            <a:r>
              <a:rPr lang="en-US" alt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To Create Dashboard using Power BI .</a:t>
            </a:r>
            <a:endParaRPr lang="en-IN" dirty="0">
              <a:latin typeface="Arial Rounded MT Bold" panose="020F0704030504030204" pitchFamily="34" charset="0"/>
            </a:endParaRPr>
          </a:p>
          <a:p>
            <a:r>
              <a:rPr lang="en-US" alt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Identifying trends across Time, Payment Types, Companies .</a:t>
            </a:r>
          </a:p>
          <a:p>
            <a:r>
              <a:rPr lang="en-US" alt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Convert analytical results into business‑ready insights .</a:t>
            </a:r>
          </a:p>
          <a:p>
            <a:endParaRPr lang="en-US" altLang="en-US" b="1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1214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B8C10-A7B4-8400-E1C5-493A87523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58454-65BD-9394-BF2A-B314E863B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6498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Multi-year Taxi Ride Transactional Dataset</a:t>
            </a:r>
            <a:b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</a:br>
            <a:endParaRPr 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Contains:</a:t>
            </a:r>
          </a:p>
          <a:p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Records of completed Taxi journeys .</a:t>
            </a:r>
          </a:p>
          <a:p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Pickup and Drop-off location details .</a:t>
            </a:r>
          </a:p>
          <a:p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Distance travelled and trip duration .</a:t>
            </a:r>
          </a:p>
          <a:p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Fare amount , tips , toll charges, additional fees, and total trip cost</a:t>
            </a:r>
          </a:p>
          <a:p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Payment methods and operating companies</a:t>
            </a:r>
          </a:p>
          <a:p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Date and time information for each trip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8908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9E101-E96F-E932-8483-2FF08257C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891" y="1239981"/>
            <a:ext cx="3687209" cy="890155"/>
          </a:xfrm>
        </p:spPr>
        <p:txBody>
          <a:bodyPr/>
          <a:lstStyle/>
          <a:p>
            <a:r>
              <a:rPr lang="en-IN" b="1" i="1" dirty="0"/>
              <a:t>Total Revenue In Year 2023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4DA4B-4143-DEC2-DDE6-4AED56554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1891" y="2566556"/>
            <a:ext cx="3969327" cy="3458324"/>
          </a:xfrm>
        </p:spPr>
        <p:txBody>
          <a:bodyPr/>
          <a:lstStyle/>
          <a:p>
            <a:pPr marL="285750" indent="-285750">
              <a:buClr>
                <a:schemeClr val="bg2"/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Total Revenue Generate by</a:t>
            </a:r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Taxi services in 2023 .</a:t>
            </a:r>
          </a:p>
          <a:p>
            <a:pPr>
              <a:buClr>
                <a:schemeClr val="bg2"/>
              </a:buClr>
            </a:pPr>
            <a:endParaRPr lang="en-US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Clr>
                <a:schemeClr val="bg2"/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Overall including all companies together, generated more than 28+Mili , which is pretty strong.</a:t>
            </a:r>
          </a:p>
          <a:p>
            <a:pPr>
              <a:buClr>
                <a:schemeClr val="bg2"/>
              </a:buClr>
            </a:pPr>
            <a:endParaRPr lang="en-US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Clr>
                <a:schemeClr val="bg2"/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It shows that very much customers  preferred Taxi Services.</a:t>
            </a:r>
          </a:p>
          <a:p>
            <a:pPr>
              <a:buClr>
                <a:schemeClr val="bg2"/>
              </a:buClr>
            </a:pPr>
            <a:endParaRPr lang="en-IN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Clr>
                <a:schemeClr val="bg2"/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Taxi business performed well in 2023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en-US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1138DF-B579-D389-A4B8-B0CC584709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803" y="1852124"/>
            <a:ext cx="5189538" cy="399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8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16C89-3C3B-2559-C2E0-AD09FD333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2" y="3787116"/>
            <a:ext cx="8825659" cy="566738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Top Revenue Companies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B9ACBD-C528-F291-BF9D-0126F2B7DB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2" y="4542363"/>
            <a:ext cx="10348789" cy="1701121"/>
          </a:xfrm>
        </p:spPr>
        <p:txBody>
          <a:bodyPr>
            <a:normAutofit/>
          </a:bodyPr>
          <a:lstStyle/>
          <a:p>
            <a:endParaRPr lang="en-US" sz="1600" b="1" dirty="0">
              <a:solidFill>
                <a:schemeClr val="bg2">
                  <a:lumMod val="90000"/>
                </a:schemeClr>
              </a:solidFill>
            </a:endParaRPr>
          </a:p>
          <a:p>
            <a:pPr marL="285750" indent="-285750"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bg2">
                    <a:lumMod val="90000"/>
                  </a:schemeClr>
                </a:solidFill>
                <a:latin typeface="Arial Rounded MT Bold" panose="020F0704030504030204" pitchFamily="34" charset="0"/>
              </a:rPr>
              <a:t>These 10 Companies have the highest Revenues .</a:t>
            </a:r>
          </a:p>
          <a:p>
            <a:pPr marL="285750" indent="-285750"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bg2">
                    <a:lumMod val="90000"/>
                  </a:schemeClr>
                </a:solidFill>
                <a:latin typeface="Arial Rounded MT Bold" panose="020F0704030504030204" pitchFamily="34" charset="0"/>
              </a:rPr>
              <a:t>Flash Cab is Highest Revenue generating company with almost 5.5 Million. It is almost 20% of the Total Revenue.</a:t>
            </a:r>
          </a:p>
          <a:p>
            <a:pPr>
              <a:buClr>
                <a:schemeClr val="bg2"/>
              </a:buClr>
            </a:pPr>
            <a:endParaRPr lang="en-US" sz="1600" b="1" dirty="0">
              <a:solidFill>
                <a:schemeClr val="bg2">
                  <a:lumMod val="90000"/>
                </a:schemeClr>
              </a:solidFill>
              <a:latin typeface="Arial Rounded MT Bold" panose="020F0704030504030204" pitchFamily="34" charset="0"/>
            </a:endParaRPr>
          </a:p>
          <a:p>
            <a:pPr>
              <a:buClr>
                <a:schemeClr val="bg2"/>
              </a:buClr>
            </a:pPr>
            <a:endParaRPr lang="en-US" sz="1600" b="1" dirty="0">
              <a:solidFill>
                <a:schemeClr val="bg2">
                  <a:lumMod val="90000"/>
                </a:schemeClr>
              </a:solidFill>
            </a:endParaRPr>
          </a:p>
          <a:p>
            <a:endParaRPr lang="en-IN" dirty="0"/>
          </a:p>
          <a:p>
            <a:endParaRPr lang="en-IN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99E6DAE0-3238-1CA5-B554-18650FB515F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11" b="14320"/>
          <a:stretch>
            <a:fillRect/>
          </a:stretch>
        </p:blipFill>
        <p:spPr>
          <a:xfrm>
            <a:off x="1154953" y="1"/>
            <a:ext cx="8825659" cy="3598606"/>
          </a:xfrm>
        </p:spPr>
      </p:pic>
    </p:spTree>
    <p:extLst>
      <p:ext uri="{BB962C8B-B14F-4D97-AF65-F5344CB8AC3E}">
        <p14:creationId xmlns:p14="http://schemas.microsoft.com/office/powerpoint/2010/main" val="307476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1452C-BCF0-155D-E5E5-FD358E2F4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175" y="833121"/>
            <a:ext cx="2793158" cy="671052"/>
          </a:xfrm>
        </p:spPr>
        <p:txBody>
          <a:bodyPr/>
          <a:lstStyle/>
          <a:p>
            <a:r>
              <a:rPr lang="en-IN" dirty="0"/>
              <a:t>Busiest Days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4CCB1A1-FD23-9747-D8BA-8348D688DA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774" y="1295400"/>
            <a:ext cx="6882581" cy="391821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BF193-F851-0E56-8B9C-88C05CF45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7083" y="1740310"/>
            <a:ext cx="3608439" cy="4284569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Clr>
                <a:schemeClr val="bg1">
                  <a:lumMod val="95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Weekdays have more taxi trips than weekends .</a:t>
            </a:r>
          </a:p>
          <a:p>
            <a:pPr marL="285750" indent="-285750">
              <a:buClr>
                <a:schemeClr val="bg1">
                  <a:lumMod val="95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Wednesday, Thursday and Tuesday   show highest taxi rides activity .</a:t>
            </a:r>
          </a:p>
          <a:p>
            <a:pPr marL="285750" indent="-285750">
              <a:buClr>
                <a:schemeClr val="bg1">
                  <a:lumMod val="95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It shows that , Taxi demand is higher on working days compared to Weekends.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0694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C4478-65F1-AE19-DA79-BC0BFBFAE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914" y="980768"/>
            <a:ext cx="3913238" cy="907026"/>
          </a:xfrm>
        </p:spPr>
        <p:txBody>
          <a:bodyPr/>
          <a:lstStyle/>
          <a:p>
            <a:r>
              <a:rPr lang="en-IN" dirty="0"/>
              <a:t>Payment Type Distribution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37A1F36-8712-DA21-4BFF-D3BD149F2A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0091" y="1337187"/>
            <a:ext cx="6326996" cy="468769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8D9557-5CCA-EE05-6D67-9B7B85826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6077" y="2074606"/>
            <a:ext cx="3692075" cy="3950273"/>
          </a:xfrm>
        </p:spPr>
        <p:txBody>
          <a:bodyPr/>
          <a:lstStyle/>
          <a:p>
            <a:pPr marL="285750" indent="-285750">
              <a:buClr>
                <a:schemeClr val="bg1">
                  <a:lumMod val="85000"/>
                </a:schemeClr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Most passengers use card payments.</a:t>
            </a:r>
          </a:p>
          <a:p>
            <a:pPr>
              <a:buClr>
                <a:schemeClr val="bg1">
                  <a:lumMod val="85000"/>
                </a:schemeClr>
              </a:buClr>
            </a:pPr>
            <a:endParaRPr lang="en-US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Clr>
                <a:schemeClr val="bg1">
                  <a:lumMod val="85000"/>
                </a:schemeClr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Cash is the second most common method .</a:t>
            </a:r>
          </a:p>
          <a:p>
            <a:pPr>
              <a:buClr>
                <a:schemeClr val="bg1">
                  <a:lumMod val="85000"/>
                </a:schemeClr>
              </a:buClr>
            </a:pPr>
            <a:endParaRPr lang="en-US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Clr>
                <a:schemeClr val="bg1">
                  <a:lumMod val="85000"/>
                </a:schemeClr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Mobile and other methods are used less .</a:t>
            </a:r>
          </a:p>
          <a:p>
            <a:pPr>
              <a:buClr>
                <a:schemeClr val="bg1">
                  <a:lumMod val="85000"/>
                </a:schemeClr>
              </a:buClr>
            </a:pPr>
            <a:endParaRPr lang="en-US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285750" indent="-285750">
              <a:buClr>
                <a:schemeClr val="bg1">
                  <a:lumMod val="85000"/>
                </a:schemeClr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Still , by </a:t>
            </a:r>
            <a:r>
              <a:rPr lang="en-US" b="1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analysing</a:t>
            </a:r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it shows that Most of the Customers prefer cashless payments.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5058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D9D9B-561C-6AED-435B-E9F9C718D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671" y="737420"/>
            <a:ext cx="3456374" cy="703006"/>
          </a:xfrm>
        </p:spPr>
        <p:txBody>
          <a:bodyPr/>
          <a:lstStyle/>
          <a:p>
            <a:r>
              <a:rPr lang="en-IN" dirty="0"/>
              <a:t>Revenue Breakdown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B075AF4-2A86-9E43-B957-8E51211645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388" y="1659195"/>
            <a:ext cx="6291759" cy="418443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A9272D-5667-4AEF-E146-AF51814E7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3394" y="1750142"/>
            <a:ext cx="3283974" cy="4274737"/>
          </a:xfrm>
        </p:spPr>
        <p:txBody>
          <a:bodyPr>
            <a:normAutofit/>
          </a:bodyPr>
          <a:lstStyle/>
          <a:p>
            <a:pPr marL="285750" indent="-285750">
              <a:buClr>
                <a:schemeClr val="bg1">
                  <a:lumMod val="85000"/>
                </a:schemeClr>
              </a:buCl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Total revenue is calculated as the sum of fare, tips, tolls, and extra charges.</a:t>
            </a:r>
          </a:p>
          <a:p>
            <a:pPr>
              <a:buClr>
                <a:schemeClr val="bg1">
                  <a:lumMod val="85000"/>
                </a:schemeClr>
              </a:buClr>
            </a:pP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Clr>
                <a:schemeClr val="bg1">
                  <a:lumMod val="85000"/>
                </a:schemeClr>
              </a:buCl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Fare remains the primary source of income also its is the largest portion of the Total Revenue.</a:t>
            </a:r>
          </a:p>
          <a:p>
            <a:pPr>
              <a:buClr>
                <a:schemeClr val="bg1">
                  <a:lumMod val="85000"/>
                </a:schemeClr>
              </a:buClr>
            </a:pP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Clr>
                <a:schemeClr val="bg1">
                  <a:lumMod val="85000"/>
                </a:schemeClr>
              </a:buClr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bg1">
                    <a:lumMod val="85000"/>
                  </a:schemeClr>
                </a:solidFill>
              </a:rPr>
              <a:t>Tips and extra charges contribute additional income</a:t>
            </a:r>
          </a:p>
          <a:p>
            <a:pPr>
              <a:buClr>
                <a:schemeClr val="bg1">
                  <a:lumMod val="85000"/>
                </a:schemeClr>
              </a:buClr>
            </a:pPr>
            <a:endParaRPr lang="en-IN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Clr>
                <a:schemeClr val="bg1">
                  <a:lumMod val="85000"/>
                </a:schemeClr>
              </a:buCl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Tolls account for a very small share</a:t>
            </a:r>
            <a:endParaRPr lang="en-IN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8590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A5C3B-B5AB-5884-7431-581865878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156" y="606535"/>
            <a:ext cx="3828017" cy="1222265"/>
          </a:xfrm>
        </p:spPr>
        <p:txBody>
          <a:bodyPr/>
          <a:lstStyle/>
          <a:p>
            <a:r>
              <a:rPr lang="en-US" dirty="0"/>
              <a:t>Target Tip vs Tip Amount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B5636C8-8991-955B-ECDD-7DBBA7474D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675" y="2206735"/>
            <a:ext cx="5189538" cy="305413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5CA3A3-9AE7-9774-D8C4-8DF1505C1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6245" y="2206735"/>
            <a:ext cx="3549445" cy="3818144"/>
          </a:xfrm>
        </p:spPr>
        <p:txBody>
          <a:bodyPr/>
          <a:lstStyle/>
          <a:p>
            <a:pPr marL="285750" indent="-285750"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Average tip amount is 2.85, which is below the target value of 4</a:t>
            </a:r>
          </a:p>
          <a:p>
            <a:pPr marL="285750" indent="-285750"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q"/>
            </a:pP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Passengers are giving tips , </a:t>
            </a:r>
            <a:r>
              <a:rPr lang="en-IN" b="1" dirty="0">
                <a:solidFill>
                  <a:schemeClr val="bg1">
                    <a:lumMod val="85000"/>
                  </a:schemeClr>
                </a:solidFill>
              </a:rPr>
              <a:t>yet improvement is possible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q"/>
            </a:pP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Better service quality may help increase tips</a:t>
            </a:r>
            <a:endParaRPr lang="en-IN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190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0F75-0B1B-DDC8-08D9-8E8A1DEF1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019" y="443527"/>
            <a:ext cx="8825659" cy="566738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Combined Insights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1F7E14C-3E93-5E99-1684-B03C0C1F854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747252" y="1153171"/>
            <a:ext cx="9145259" cy="3570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Taxi usage varies across different days and hours 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16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Cashless payment methods are commonly used by passengers 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16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Fare charges generate the largest share of income 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16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Ride activity changes from month to month 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16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On weekdays there is more taxi rides happening.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16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Improving customer experience and encouraging positive interactions between drivers and passengers may help increase tip amounts 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Rounded MT Bold" panose="020F07040305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210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E02FF-F03F-CEE1-9033-E720495790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2326102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1334</TotalTime>
  <Words>423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Black</vt:lpstr>
      <vt:lpstr>Arial Rounded MT Bold</vt:lpstr>
      <vt:lpstr>Century Gothic</vt:lpstr>
      <vt:lpstr>Wingdings</vt:lpstr>
      <vt:lpstr>Wingdings 3</vt:lpstr>
      <vt:lpstr>Ion Boardroom</vt:lpstr>
      <vt:lpstr>Taxi Rides Transactional Dataset</vt:lpstr>
      <vt:lpstr>OBJECTIVE</vt:lpstr>
      <vt:lpstr>Overview</vt:lpstr>
      <vt:lpstr>Total Revenue In Year 2023</vt:lpstr>
      <vt:lpstr>Top Revenue Companies</vt:lpstr>
      <vt:lpstr>Busiest Days</vt:lpstr>
      <vt:lpstr>Payment Type Distribution</vt:lpstr>
      <vt:lpstr>Revenue Breakdown</vt:lpstr>
      <vt:lpstr>Target Tip vs Tip Amount</vt:lpstr>
      <vt:lpstr>Combined Insights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Aakanksha Pednekar</dc:creator>
  <cp:lastModifiedBy>Aakanksha Pednekar</cp:lastModifiedBy>
  <cp:revision>10</cp:revision>
  <cp:lastPrinted>2026-02-05T18:28:20Z</cp:lastPrinted>
  <dcterms:created xsi:type="dcterms:W3CDTF">2026-02-05T13:44:52Z</dcterms:created>
  <dcterms:modified xsi:type="dcterms:W3CDTF">2026-02-12T06:35:20Z</dcterms:modified>
</cp:coreProperties>
</file>